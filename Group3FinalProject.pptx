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6" r:id="rId5"/>
    <p:sldId id="261" r:id="rId6"/>
    <p:sldId id="284" r:id="rId7"/>
    <p:sldId id="277" r:id="rId8"/>
    <p:sldId id="267" r:id="rId9"/>
    <p:sldId id="259" r:id="rId10"/>
    <p:sldId id="278" r:id="rId11"/>
    <p:sldId id="268" r:id="rId12"/>
    <p:sldId id="279" r:id="rId13"/>
    <p:sldId id="280" r:id="rId14"/>
    <p:sldId id="271" r:id="rId15"/>
    <p:sldId id="272" r:id="rId16"/>
    <p:sldId id="274" r:id="rId17"/>
    <p:sldId id="273" r:id="rId18"/>
    <p:sldId id="275" r:id="rId19"/>
    <p:sldId id="281" r:id="rId20"/>
    <p:sldId id="282" r:id="rId21"/>
    <p:sldId id="283" r:id="rId22"/>
    <p:sldId id="264" r:id="rId23"/>
    <p:sldId id="265" r:id="rId24"/>
  </p:sldIdLst>
  <p:sldSz cx="9753600" cy="7315200"/>
  <p:notesSz cx="6858000" cy="9144000"/>
  <p:embeddedFontLst>
    <p:embeddedFont>
      <p:font typeface="Aleo Bold" panose="020F0802020204030203" pitchFamily="34" charset="77"/>
      <p:regular r:id="rId26"/>
      <p:bold r:id="rId27"/>
    </p:embeddedFont>
    <p:embeddedFont>
      <p:font typeface="Glacial Indifference" pitchFamily="2" charset="0"/>
      <p:regular r:id="rId28"/>
    </p:embeddedFont>
    <p:embeddedFont>
      <p:font typeface="Glacial Indifference Bold" pitchFamily="2" charset="0"/>
      <p:regular r:id="rId29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CB3F2-C26A-3D6E-2A75-2517D8E3771B}" v="22" dt="2025-12-02T21:49:26.465"/>
    <p1510:client id="{1552EAED-9DC1-0492-A503-455161C881DC}" v="32" dt="2025-12-02T21:42:33.941"/>
    <p1510:client id="{4B139FF5-DF91-62C7-67D1-CECB275A8609}" v="1165" dt="2025-12-02T21:48:27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620" autoAdjust="0"/>
  </p:normalViewPr>
  <p:slideViewPr>
    <p:cSldViewPr>
      <p:cViewPr varScale="1">
        <p:scale>
          <a:sx n="96" d="100"/>
          <a:sy n="96" d="100"/>
        </p:scale>
        <p:origin x="189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F95F6-84D5-452E-BC43-89187DCF37E5}" type="datetimeFigureOut">
              <a:rPr lang="en-IN" smtClean="0"/>
              <a:t>02/12/25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A9A54F-5ADE-423F-BB24-2C46C8C546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62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A9A54F-5ADE-423F-BB24-2C46C8C5465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999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interreg-central.eu/projects/health-labs4value/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2813" y="6981970"/>
            <a:ext cx="10065858" cy="416098"/>
            <a:chOff x="0" y="0"/>
            <a:chExt cx="3728095" cy="1541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28095" cy="154110"/>
            </a:xfrm>
            <a:custGeom>
              <a:avLst/>
              <a:gdLst/>
              <a:ahLst/>
              <a:cxnLst/>
              <a:rect l="l" t="t" r="r" b="b"/>
              <a:pathLst>
                <a:path w="3728095" h="154110">
                  <a:moveTo>
                    <a:pt x="0" y="0"/>
                  </a:moveTo>
                  <a:lnTo>
                    <a:pt x="3728095" y="0"/>
                  </a:lnTo>
                  <a:lnTo>
                    <a:pt x="3728095" y="154110"/>
                  </a:lnTo>
                  <a:lnTo>
                    <a:pt x="0" y="154110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728095" cy="182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398423" y="-1345732"/>
            <a:ext cx="3500443" cy="3500443"/>
          </a:xfrm>
          <a:custGeom>
            <a:avLst/>
            <a:gdLst/>
            <a:ahLst/>
            <a:cxnLst/>
            <a:rect l="l" t="t" r="r" b="b"/>
            <a:pathLst>
              <a:path w="3500443" h="3500443">
                <a:moveTo>
                  <a:pt x="0" y="0"/>
                </a:moveTo>
                <a:lnTo>
                  <a:pt x="3500443" y="0"/>
                </a:lnTo>
                <a:lnTo>
                  <a:pt x="3500443" y="3500443"/>
                </a:lnTo>
                <a:lnTo>
                  <a:pt x="0" y="350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410450" y="-152400"/>
            <a:ext cx="3716815" cy="3716815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-923714" y="2327347"/>
            <a:ext cx="6929825" cy="2658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  <a:t>MSIT3820-01-F25 IT Business Intelligence </a:t>
            </a:r>
            <a:b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lt"/>
                <a:cs typeface="+mn-lt"/>
              </a:rPr>
            </a:b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/>
                <a:cs typeface="Calibri"/>
              </a:rPr>
              <a:t>Final Project</a:t>
            </a:r>
            <a:endParaRPr lang="en-US" sz="2000" b="1">
              <a:ea typeface="Calibri"/>
              <a:cs typeface="Calibri"/>
            </a:endParaRPr>
          </a:p>
          <a:p>
            <a:pPr algn="ctr">
              <a:lnSpc>
                <a:spcPts val="8780"/>
              </a:lnSpc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United Healthcare Dataset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/>
              <a:cs typeface="Calibri"/>
            </a:endParaRPr>
          </a:p>
          <a:p>
            <a:pPr algn="ctr">
              <a:lnSpc>
                <a:spcPts val="8780"/>
              </a:lnSpc>
            </a:pP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/>
              <a:cs typeface="Calibri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9023" y="4421175"/>
            <a:ext cx="4745883" cy="1895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58"/>
              </a:lnSpc>
            </a:pPr>
            <a:r>
              <a:rPr lang="en-US" sz="2000" b="1" dirty="0">
                <a:latin typeface="Calibri"/>
                <a:ea typeface="Calibri"/>
                <a:cs typeface="Calibri"/>
              </a:rPr>
              <a:t>Group 3: </a:t>
            </a:r>
            <a:br>
              <a:rPr lang="en-US" sz="2000" b="1" dirty="0">
                <a:latin typeface="Calibri"/>
              </a:rPr>
            </a:br>
            <a:r>
              <a:rPr lang="en-US" sz="2000" b="1" dirty="0">
                <a:latin typeface="Calibri"/>
                <a:ea typeface="Calibri"/>
                <a:cs typeface="Calibri"/>
              </a:rPr>
              <a:t>Richa Cristina </a:t>
            </a:r>
            <a:r>
              <a:rPr lang="en-US" sz="2000" b="1" err="1">
                <a:latin typeface="Calibri"/>
                <a:ea typeface="Calibri"/>
                <a:cs typeface="Calibri"/>
              </a:rPr>
              <a:t>Podakkal</a:t>
            </a:r>
            <a:r>
              <a:rPr lang="en-US" sz="2000" b="1" dirty="0">
                <a:latin typeface="Calibri"/>
                <a:ea typeface="Calibri"/>
                <a:cs typeface="Calibri"/>
              </a:rPr>
              <a:t>, </a:t>
            </a:r>
            <a:br>
              <a:rPr lang="en-US" sz="2000" b="1" dirty="0">
                <a:latin typeface="Calibri"/>
              </a:rPr>
            </a:br>
            <a:r>
              <a:rPr lang="en-US" sz="2000" b="1" dirty="0">
                <a:latin typeface="Calibri"/>
                <a:ea typeface="Calibri"/>
                <a:cs typeface="Calibri"/>
              </a:rPr>
              <a:t>Swapna Alampally, </a:t>
            </a:r>
            <a:br>
              <a:rPr lang="en-US" sz="2000" b="1" dirty="0">
                <a:latin typeface="Calibri"/>
              </a:rPr>
            </a:br>
            <a:r>
              <a:rPr lang="en-US" sz="2000" b="1" dirty="0">
                <a:latin typeface="Calibri"/>
                <a:ea typeface="Calibri"/>
                <a:cs typeface="Calibri"/>
              </a:rPr>
              <a:t>Lisa Roman Foss</a:t>
            </a:r>
            <a:endParaRPr lang="en-US" b="1"/>
          </a:p>
          <a:p>
            <a:pPr algn="l">
              <a:lnSpc>
                <a:spcPts val="2958"/>
              </a:lnSpc>
            </a:pPr>
            <a:endParaRPr lang="en-US" sz="2113" b="1" spc="316" dirty="0">
              <a:solidFill>
                <a:srgbClr val="00000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4713333" y="651040"/>
            <a:ext cx="3503399" cy="2666962"/>
          </a:xfrm>
          <a:custGeom>
            <a:avLst/>
            <a:gdLst/>
            <a:ahLst/>
            <a:cxnLst/>
            <a:rect l="l" t="t" r="r" b="b"/>
            <a:pathLst>
              <a:path w="3503399" h="2666962">
                <a:moveTo>
                  <a:pt x="0" y="0"/>
                </a:moveTo>
                <a:lnTo>
                  <a:pt x="3503399" y="0"/>
                </a:lnTo>
                <a:lnTo>
                  <a:pt x="3503399" y="2666963"/>
                </a:lnTo>
                <a:lnTo>
                  <a:pt x="0" y="26669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7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469660" y="-1009650"/>
            <a:ext cx="4656997" cy="465699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FF8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-914400" y="2114550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177746" y="392682"/>
            <a:ext cx="6629400" cy="76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4"/>
              </a:lnSpc>
            </a:pPr>
            <a:r>
              <a:rPr lang="en-US" sz="5634" b="1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The Contents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19735" y="1975031"/>
            <a:ext cx="4429125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dirty="0"/>
              <a:t>Company Overview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3509323" y="1529078"/>
            <a:ext cx="991375" cy="991375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FF8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622937" y="1903842"/>
            <a:ext cx="764143" cy="492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622" b="1" dirty="0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31458" y="3110493"/>
            <a:ext cx="4429125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600" dirty="0"/>
              <a:t>Problems &amp; Goals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3501746" y="2762066"/>
            <a:ext cx="991375" cy="991375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FF8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630981" y="3099753"/>
            <a:ext cx="764143" cy="492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622" b="1" dirty="0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48200" y="4305947"/>
            <a:ext cx="4429125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600" dirty="0"/>
              <a:t>ETL, SQL, Python, Tableau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3499524" y="3933371"/>
            <a:ext cx="991375" cy="991375"/>
            <a:chOff x="0" y="0"/>
            <a:chExt cx="6350000" cy="6350000"/>
          </a:xfrm>
        </p:grpSpPr>
        <p:sp>
          <p:nvSpPr>
            <p:cNvPr id="16" name="Freeform 16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FF8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613139" y="4287670"/>
            <a:ext cx="764143" cy="492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622" b="1" dirty="0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31457" y="5488373"/>
            <a:ext cx="4429125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1600" dirty="0"/>
              <a:t>Charts &amp; Dashboards</a:t>
            </a:r>
          </a:p>
        </p:txBody>
      </p: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3509322" y="5115797"/>
            <a:ext cx="991375" cy="991375"/>
            <a:chOff x="0" y="0"/>
            <a:chExt cx="6350000" cy="6350000"/>
          </a:xfrm>
        </p:grpSpPr>
        <p:sp>
          <p:nvSpPr>
            <p:cNvPr id="20" name="Freeform 20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FF8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613139" y="5400837"/>
            <a:ext cx="764143" cy="492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2"/>
              </a:lnSpc>
            </a:pPr>
            <a:r>
              <a:rPr lang="en-US" sz="3622" b="1" dirty="0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rPr>
              <a:t>04</a:t>
            </a:r>
          </a:p>
        </p:txBody>
      </p:sp>
      <p:grpSp>
        <p:nvGrpSpPr>
          <p:cNvPr id="22" name="Group 19">
            <a:extLst>
              <a:ext uri="{FF2B5EF4-FFF2-40B4-BE49-F238E27FC236}">
                <a16:creationId xmlns:a16="http://schemas.microsoft.com/office/drawing/2014/main" id="{7BAAA847-96BD-22E2-49AF-18BD55C30509}"/>
              </a:ext>
            </a:extLst>
          </p:cNvPr>
          <p:cNvGrpSpPr>
            <a:grpSpLocks noChangeAspect="1"/>
          </p:cNvGrpSpPr>
          <p:nvPr/>
        </p:nvGrpSpPr>
        <p:grpSpPr>
          <a:xfrm>
            <a:off x="3515142" y="6187149"/>
            <a:ext cx="995819" cy="991385"/>
            <a:chOff x="-14245" y="-35069"/>
            <a:chExt cx="6378465" cy="6350064"/>
          </a:xfrm>
        </p:grpSpPr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DD1A9F2E-9812-471A-B57A-B97EA5CEBE2A}"/>
                </a:ext>
              </a:extLst>
            </p:cNvPr>
            <p:cNvSpPr/>
            <p:nvPr/>
          </p:nvSpPr>
          <p:spPr>
            <a:xfrm>
              <a:off x="-14245" y="-35069"/>
              <a:ext cx="6378465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FF8DA"/>
            </a:solidFill>
          </p:spPr>
          <p:txBody>
            <a:bodyPr/>
            <a:lstStyle/>
            <a:p>
              <a:pPr algn="ctr"/>
              <a:endParaRPr lang="en-US" b="1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endParaRPr>
            </a:p>
            <a:p>
              <a:pPr algn="ctr"/>
              <a:r>
                <a:rPr lang="en-US" sz="3620" b="1">
                  <a:solidFill>
                    <a:srgbClr val="000000"/>
                  </a:solidFill>
                  <a:latin typeface="Aleo Bold"/>
                  <a:ea typeface="Aleo Bold"/>
                  <a:cs typeface="Aleo Bold"/>
                  <a:sym typeface="Aleo Bold"/>
                </a:rPr>
                <a:t>05</a:t>
              </a:r>
            </a:p>
            <a:p>
              <a:pPr algn="ctr"/>
              <a:endParaRPr lang="en-US" sz="3620" b="1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endParaRPr>
            </a:p>
            <a:p>
              <a:pPr algn="ctr"/>
              <a:endParaRPr lang="en-US" sz="3620" b="1">
                <a:solidFill>
                  <a:srgbClr val="000000"/>
                </a:solidFill>
                <a:latin typeface="Aleo Bold"/>
                <a:ea typeface="Aleo Bold"/>
                <a:cs typeface="Aleo Bold"/>
                <a:sym typeface="Aleo Bold"/>
              </a:endParaRPr>
            </a:p>
            <a:p>
              <a:endParaRPr lang="en-IN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F4825D8-11B8-9694-5F02-BFD9F11FF4D3}"/>
              </a:ext>
            </a:extLst>
          </p:cNvPr>
          <p:cNvSpPr txBox="1"/>
          <p:nvPr/>
        </p:nvSpPr>
        <p:spPr>
          <a:xfrm>
            <a:off x="4648200" y="6513564"/>
            <a:ext cx="5617028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1600" dirty="0"/>
              <a:t>Insights, Recommendations, Future Improvements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1213866"/>
            <a:ext cx="5924550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4830" b="1" dirty="0">
                <a:solidFill>
                  <a:srgbClr val="0097B2"/>
                </a:solidFill>
                <a:latin typeface="Aleo Bold"/>
                <a:ea typeface="Aleo Bold"/>
                <a:cs typeface="Aleo Bold"/>
                <a:sym typeface="Aleo Bold"/>
              </a:rPr>
              <a:t>Company Overview</a:t>
            </a:r>
          </a:p>
          <a:p>
            <a:pPr algn="l">
              <a:lnSpc>
                <a:spcPts val="4830"/>
              </a:lnSpc>
            </a:pPr>
            <a:endParaRPr lang="en-US" sz="4830" b="1" dirty="0">
              <a:solidFill>
                <a:srgbClr val="0097B2"/>
              </a:solidFill>
              <a:latin typeface="Aleo Bold"/>
              <a:ea typeface="Aleo Bold"/>
              <a:cs typeface="Aleo Bold"/>
              <a:sym typeface="Aleo Bold"/>
            </a:endParaRP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85800" y="2431443"/>
            <a:ext cx="6446073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Multi-hospital healthcare provider.</a:t>
            </a:r>
            <a:endParaRPr lang="en-US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Handles admissions, treatments, billing, and insurance.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Large volumes of operational and financial data.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Currently lacking centralized analytics capabilities.</a:t>
            </a:r>
            <a:endParaRPr lang="en-US" dirty="0">
              <a:ea typeface="Calibri"/>
              <a:cs typeface="Calibri"/>
            </a:endParaRPr>
          </a:p>
          <a:p>
            <a:endParaRPr lang="en-US" sz="2400" dirty="0">
              <a:latin typeface="Glacial Indifference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A1C8B-0A73-0685-6170-7E5745C0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C9F484E-6CE4-40CA-8302-10322C209C4B}"/>
              </a:ext>
            </a:extLst>
          </p:cNvPr>
          <p:cNvSpPr txBox="1"/>
          <p:nvPr/>
        </p:nvSpPr>
        <p:spPr>
          <a:xfrm>
            <a:off x="685800" y="1213866"/>
            <a:ext cx="592455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0"/>
              </a:lnSpc>
            </a:pPr>
            <a:r>
              <a:rPr lang="en-US" sz="4830" b="1" dirty="0">
                <a:solidFill>
                  <a:srgbClr val="0097B2"/>
                </a:solidFill>
                <a:latin typeface="Aleo Bold"/>
                <a:ea typeface="Aleo Bold"/>
                <a:cs typeface="Aleo Bold"/>
                <a:sym typeface="Aleo Bold"/>
              </a:rPr>
              <a:t>Project Dataset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4526602-179C-B9FF-6AD9-290D80BF544A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B81ED55-20F5-D2CE-EC93-8C5C8003DD61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B9154A4-896E-02D2-DCA5-6A863FF55436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5A9466E-7458-D153-0934-B0DC44347DB1}"/>
              </a:ext>
            </a:extLst>
          </p:cNvPr>
          <p:cNvSpPr txBox="1"/>
          <p:nvPr/>
        </p:nvSpPr>
        <p:spPr>
          <a:xfrm>
            <a:off x="670020" y="2202866"/>
            <a:ext cx="5940330" cy="4862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Synthetic healthcare dataset sourced from Kaggle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Contains 55,501 patient records.</a:t>
            </a: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Includes details on:</a:t>
            </a:r>
            <a:endParaRPr lang="en-US" sz="2400" dirty="0">
              <a:ea typeface="Calibri"/>
              <a:cs typeface="Calibri"/>
            </a:endParaRPr>
          </a:p>
          <a:p>
            <a:endParaRPr lang="en-US" sz="240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Patient demographics (age, gender, blood type, condition), Providers (doctor, hospital), Insurance information, Admission &amp; discharge dates, Medication and test results, Billing amounts and room numbers.</a:t>
            </a:r>
            <a:endParaRPr lang="en-US" sz="2400" dirty="0">
              <a:ea typeface="Calibri"/>
              <a:cs typeface="Calibri"/>
            </a:endParaRPr>
          </a:p>
          <a:p>
            <a:endParaRPr lang="en-US" sz="2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528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680413" y="790905"/>
            <a:ext cx="822960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4800" b="1" dirty="0">
                <a:solidFill>
                  <a:srgbClr val="0097B2"/>
                </a:solidFill>
                <a:latin typeface="Aleo Bold"/>
              </a:rPr>
              <a:t>Current Problems</a:t>
            </a:r>
          </a:p>
        </p:txBody>
      </p:sp>
      <p:sp>
        <p:nvSpPr>
          <p:cNvPr id="6" name="Freeform 6"/>
          <p:cNvSpPr/>
          <p:nvPr/>
        </p:nvSpPr>
        <p:spPr>
          <a:xfrm>
            <a:off x="6769041" y="423339"/>
            <a:ext cx="2294174" cy="2294174"/>
          </a:xfrm>
          <a:custGeom>
            <a:avLst/>
            <a:gdLst/>
            <a:ahLst/>
            <a:cxnLst/>
            <a:rect l="l" t="t" r="r" b="b"/>
            <a:pathLst>
              <a:path w="2294174" h="2294174">
                <a:moveTo>
                  <a:pt x="0" y="0"/>
                </a:moveTo>
                <a:lnTo>
                  <a:pt x="2294175" y="0"/>
                </a:lnTo>
                <a:lnTo>
                  <a:pt x="2294175" y="2294174"/>
                </a:lnTo>
                <a:lnTo>
                  <a:pt x="0" y="2294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7525968" y="-1814"/>
            <a:ext cx="2216507" cy="2206638"/>
            <a:chOff x="-14231" y="-32"/>
            <a:chExt cx="6378462" cy="6350064"/>
          </a:xfrm>
        </p:grpSpPr>
        <p:sp>
          <p:nvSpPr>
            <p:cNvPr id="8" name="Freeform 8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43D5F92-E994-A2E0-1EBF-59BB7979D2FD}"/>
              </a:ext>
            </a:extLst>
          </p:cNvPr>
          <p:cNvSpPr txBox="1"/>
          <p:nvPr/>
        </p:nvSpPr>
        <p:spPr>
          <a:xfrm>
            <a:off x="881795" y="2599830"/>
            <a:ext cx="6357901" cy="4068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Data scattered across separate files and systems.</a:t>
            </a:r>
            <a:endParaRPr lang="en-US" sz="2400" dirty="0">
              <a:ea typeface="Calibri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Manual, slow, Excel-based reporting.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No unified patient or billing visibility.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Hard to identify cost drivers and inefficiencies.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No automated dashboards or KPIs.</a:t>
            </a:r>
            <a:endParaRPr lang="en-US" dirty="0">
              <a:ea typeface="Calibri"/>
              <a:cs typeface="Calibri"/>
            </a:endParaRPr>
          </a:p>
          <a:p>
            <a:pPr marL="285750" lvl="0" indent="-285750">
              <a:lnSpc>
                <a:spcPts val="2100"/>
              </a:lnSpc>
              <a:buFont typeface="Arial"/>
              <a:buChar char="•"/>
            </a:pPr>
            <a:endParaRPr lang="en-US" sz="2400" dirty="0"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6E6AA-9A1C-5B1E-BF64-9A2AB9AD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FB9FD66-BE72-11A0-A961-FBFC23237152}"/>
              </a:ext>
            </a:extLst>
          </p:cNvPr>
          <p:cNvSpPr txBox="1"/>
          <p:nvPr/>
        </p:nvSpPr>
        <p:spPr>
          <a:xfrm>
            <a:off x="-680413" y="790905"/>
            <a:ext cx="822960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4800" b="1" dirty="0">
                <a:solidFill>
                  <a:srgbClr val="0097B2"/>
                </a:solidFill>
                <a:latin typeface="Aleo Bold"/>
              </a:rPr>
              <a:t>Company Goals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A0D3E53-0D2C-A3FE-25B3-E8138344620C}"/>
              </a:ext>
            </a:extLst>
          </p:cNvPr>
          <p:cNvSpPr/>
          <p:nvPr/>
        </p:nvSpPr>
        <p:spPr>
          <a:xfrm>
            <a:off x="6769041" y="423339"/>
            <a:ext cx="2294174" cy="2294174"/>
          </a:xfrm>
          <a:custGeom>
            <a:avLst/>
            <a:gdLst/>
            <a:ahLst/>
            <a:cxnLst/>
            <a:rect l="l" t="t" r="r" b="b"/>
            <a:pathLst>
              <a:path w="2294174" h="2294174">
                <a:moveTo>
                  <a:pt x="0" y="0"/>
                </a:moveTo>
                <a:lnTo>
                  <a:pt x="2294175" y="0"/>
                </a:lnTo>
                <a:lnTo>
                  <a:pt x="2294175" y="2294174"/>
                </a:lnTo>
                <a:lnTo>
                  <a:pt x="0" y="2294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856F570-5C50-907D-3568-F1C30094DF92}"/>
              </a:ext>
            </a:extLst>
          </p:cNvPr>
          <p:cNvGrpSpPr>
            <a:grpSpLocks noChangeAspect="1"/>
          </p:cNvGrpSpPr>
          <p:nvPr/>
        </p:nvGrpSpPr>
        <p:grpSpPr>
          <a:xfrm>
            <a:off x="7525968" y="-1814"/>
            <a:ext cx="2216507" cy="2206638"/>
            <a:chOff x="-14231" y="-32"/>
            <a:chExt cx="6378462" cy="6350064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ABAE775-242B-CAAF-8FC0-1FC357927580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0C5A192-ABE4-E2A0-2CC0-B8C29C21F8AE}"/>
              </a:ext>
            </a:extLst>
          </p:cNvPr>
          <p:cNvSpPr txBox="1"/>
          <p:nvPr/>
        </p:nvSpPr>
        <p:spPr>
          <a:xfrm>
            <a:off x="881795" y="2599830"/>
            <a:ext cx="6357901" cy="4068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Improve patient care.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 dirty="0">
                <a:ea typeface="+mn-lt"/>
                <a:cs typeface="+mn-lt"/>
              </a:rPr>
              <a:t>Reduce unnecessary billing.</a:t>
            </a: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 dirty="0">
                <a:ea typeface="+mn-lt"/>
                <a:cs typeface="+mn-lt"/>
              </a:rPr>
              <a:t>Track patient patterns.</a:t>
            </a: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 dirty="0">
                <a:ea typeface="+mn-lt"/>
                <a:cs typeface="+mn-lt"/>
              </a:rPr>
              <a:t>Improve hospital &amp; provider performance.</a:t>
            </a: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,Sans-Serif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400" dirty="0">
                <a:ea typeface="+mn-lt"/>
                <a:cs typeface="+mn-lt"/>
              </a:rPr>
              <a:t>Support management with data-driven insights.</a:t>
            </a:r>
            <a:endParaRPr lang="en-US" dirty="0"/>
          </a:p>
          <a:p>
            <a:pPr marL="285750" lvl="0" indent="-285750">
              <a:lnSpc>
                <a:spcPts val="2100"/>
              </a:lnSpc>
              <a:buFont typeface="Arial"/>
              <a:buChar char="•"/>
            </a:pPr>
            <a:endParaRPr lang="en-US" sz="2400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279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EECE4-86F5-3F36-9D47-158A0D09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7065029-B6F9-D13B-08C3-6E78A6F45346}"/>
              </a:ext>
            </a:extLst>
          </p:cNvPr>
          <p:cNvSpPr txBox="1"/>
          <p:nvPr/>
        </p:nvSpPr>
        <p:spPr>
          <a:xfrm>
            <a:off x="-680413" y="790905"/>
            <a:ext cx="8229600" cy="624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4800" b="1" dirty="0">
                <a:solidFill>
                  <a:srgbClr val="0097B2"/>
                </a:solidFill>
                <a:latin typeface="Aleo Bold"/>
              </a:rPr>
              <a:t>Why BI?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5F7850A-F17C-484B-BBEA-4BDFE5C0ED71}"/>
              </a:ext>
            </a:extLst>
          </p:cNvPr>
          <p:cNvSpPr/>
          <p:nvPr/>
        </p:nvSpPr>
        <p:spPr>
          <a:xfrm>
            <a:off x="6769041" y="423339"/>
            <a:ext cx="2294174" cy="2294174"/>
          </a:xfrm>
          <a:custGeom>
            <a:avLst/>
            <a:gdLst/>
            <a:ahLst/>
            <a:cxnLst/>
            <a:rect l="l" t="t" r="r" b="b"/>
            <a:pathLst>
              <a:path w="2294174" h="2294174">
                <a:moveTo>
                  <a:pt x="0" y="0"/>
                </a:moveTo>
                <a:lnTo>
                  <a:pt x="2294175" y="0"/>
                </a:lnTo>
                <a:lnTo>
                  <a:pt x="2294175" y="2294174"/>
                </a:lnTo>
                <a:lnTo>
                  <a:pt x="0" y="2294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11377645-1DC2-951E-B369-ADFC3E43C7B3}"/>
              </a:ext>
            </a:extLst>
          </p:cNvPr>
          <p:cNvGrpSpPr>
            <a:grpSpLocks noChangeAspect="1"/>
          </p:cNvGrpSpPr>
          <p:nvPr/>
        </p:nvGrpSpPr>
        <p:grpSpPr>
          <a:xfrm>
            <a:off x="7530913" y="-1803"/>
            <a:ext cx="2206616" cy="2206616"/>
            <a:chOff x="0" y="0"/>
            <a:chExt cx="6350000" cy="6350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8132952-B25D-3A56-2941-319CE614DA8D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0A68F25-94DB-7D0B-DC7C-3F92FD8E7B00}"/>
              </a:ext>
            </a:extLst>
          </p:cNvPr>
          <p:cNvSpPr txBox="1"/>
          <p:nvPr/>
        </p:nvSpPr>
        <p:spPr>
          <a:xfrm>
            <a:off x="881795" y="2599830"/>
            <a:ext cx="6357901" cy="4068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Turns raw data into actionable insights.</a:t>
            </a:r>
            <a:endParaRPr lang="en-US" sz="2400" dirty="0">
              <a:ea typeface="+mn-lt"/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Improves operational visibility.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Helps reduce cost.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Supports automated dashboards.</a:t>
            </a:r>
          </a:p>
          <a:p>
            <a:pPr marL="342900" indent="-3429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Gives leaders accurate information.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marL="285750" lvl="0" indent="-285750">
              <a:lnSpc>
                <a:spcPts val="2100"/>
              </a:lnSpc>
              <a:buFont typeface="Arial"/>
              <a:buChar char="•"/>
            </a:pPr>
            <a:endParaRPr lang="en-US" sz="2400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7152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4C1B7-C1A3-A439-CF75-DDA66462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662934C-F412-CCA0-3EFB-717D453472F8}"/>
              </a:ext>
            </a:extLst>
          </p:cNvPr>
          <p:cNvSpPr txBox="1"/>
          <p:nvPr/>
        </p:nvSpPr>
        <p:spPr>
          <a:xfrm>
            <a:off x="685800" y="1213866"/>
            <a:ext cx="592455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0"/>
              </a:lnSpc>
            </a:pPr>
            <a:r>
              <a:rPr lang="en-US" sz="4830" b="1" dirty="0">
                <a:solidFill>
                  <a:srgbClr val="0097B2"/>
                </a:solidFill>
                <a:latin typeface="Aleo Bold"/>
                <a:ea typeface="Aleo Bold"/>
                <a:cs typeface="Aleo Bold"/>
                <a:sym typeface="Aleo Bold"/>
              </a:rPr>
              <a:t>BI Approach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27A2587-4709-2734-844E-763E40760950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FF17F1B-73B1-1C64-9712-CC50E0575800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38941DD-B7CA-48D2-E913-BDC873085DC6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9AD40-C6D5-510B-3FB7-C066C3742967}"/>
              </a:ext>
            </a:extLst>
          </p:cNvPr>
          <p:cNvSpPr txBox="1"/>
          <p:nvPr/>
        </p:nvSpPr>
        <p:spPr>
          <a:xfrm>
            <a:off x="687731" y="2219744"/>
            <a:ext cx="5637124" cy="49552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IN" sz="2400" dirty="0">
                <a:ea typeface="+mn-lt"/>
                <a:cs typeface="+mn-lt"/>
              </a:rPr>
              <a:t>Clean and organize the dataset.</a:t>
            </a:r>
            <a:endParaRPr lang="en-US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IN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IN" sz="2400" dirty="0">
                <a:ea typeface="+mn-lt"/>
                <a:cs typeface="+mn-lt"/>
              </a:rPr>
              <a:t>Build a structured database (star schema).</a:t>
            </a:r>
            <a:endParaRPr lang="en-IN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IN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IN" sz="2400" dirty="0">
                <a:ea typeface="+mn-lt"/>
                <a:cs typeface="+mn-lt"/>
              </a:rPr>
              <a:t>Run SQL queries for analysis.</a:t>
            </a:r>
            <a:endParaRPr lang="en-IN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IN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IN" sz="2400" dirty="0">
                <a:ea typeface="+mn-lt"/>
                <a:cs typeface="+mn-lt"/>
              </a:rPr>
              <a:t>Use Python for data exploration.</a:t>
            </a:r>
            <a:endParaRPr lang="en-IN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IN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IN" sz="2400" dirty="0">
                <a:ea typeface="+mn-lt"/>
                <a:cs typeface="+mn-lt"/>
              </a:rPr>
              <a:t>Build dashboards in Tableau.</a:t>
            </a:r>
            <a:endParaRPr lang="en-IN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IN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IN" sz="2400" dirty="0">
                <a:ea typeface="+mn-lt"/>
                <a:cs typeface="+mn-lt"/>
              </a:rPr>
              <a:t>Present insights for decision makers</a:t>
            </a:r>
            <a:endParaRPr lang="en-IN" sz="2400" dirty="0"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Glacial Indifferenc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777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4054" y="3717168"/>
            <a:ext cx="10256993" cy="307815"/>
            <a:chOff x="0" y="-15196"/>
            <a:chExt cx="3798886" cy="1140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98886" cy="98809"/>
            </a:xfrm>
            <a:custGeom>
              <a:avLst/>
              <a:gdLst/>
              <a:ahLst/>
              <a:cxnLst/>
              <a:rect l="l" t="t" r="r" b="b"/>
              <a:pathLst>
                <a:path w="3798886" h="98809">
                  <a:moveTo>
                    <a:pt x="0" y="0"/>
                  </a:moveTo>
                  <a:lnTo>
                    <a:pt x="3798886" y="0"/>
                  </a:lnTo>
                  <a:lnTo>
                    <a:pt x="3798886" y="98809"/>
                  </a:lnTo>
                  <a:lnTo>
                    <a:pt x="0" y="98809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5196"/>
              <a:ext cx="3731989" cy="1095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3"/>
                </a:lnSpc>
              </a:pPr>
              <a:endParaRPr sz="2000"/>
            </a:p>
          </p:txBody>
        </p:sp>
      </p:grpSp>
      <p:sp>
        <p:nvSpPr>
          <p:cNvPr id="5" name="Freeform 5"/>
          <p:cNvSpPr/>
          <p:nvPr/>
        </p:nvSpPr>
        <p:spPr>
          <a:xfrm>
            <a:off x="752353" y="3494791"/>
            <a:ext cx="752570" cy="752570"/>
          </a:xfrm>
          <a:custGeom>
            <a:avLst/>
            <a:gdLst/>
            <a:ahLst/>
            <a:cxnLst/>
            <a:rect l="l" t="t" r="r" b="b"/>
            <a:pathLst>
              <a:path w="752570" h="752570">
                <a:moveTo>
                  <a:pt x="0" y="0"/>
                </a:moveTo>
                <a:lnTo>
                  <a:pt x="752570" y="0"/>
                </a:lnTo>
                <a:lnTo>
                  <a:pt x="752570" y="752570"/>
                </a:lnTo>
                <a:lnTo>
                  <a:pt x="0" y="752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460883" y="3454213"/>
            <a:ext cx="752570" cy="752570"/>
          </a:xfrm>
          <a:custGeom>
            <a:avLst/>
            <a:gdLst/>
            <a:ahLst/>
            <a:cxnLst/>
            <a:rect l="l" t="t" r="r" b="b"/>
            <a:pathLst>
              <a:path w="752570" h="752570">
                <a:moveTo>
                  <a:pt x="0" y="0"/>
                </a:moveTo>
                <a:lnTo>
                  <a:pt x="752570" y="0"/>
                </a:lnTo>
                <a:lnTo>
                  <a:pt x="752570" y="752570"/>
                </a:lnTo>
                <a:lnTo>
                  <a:pt x="0" y="752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181873" y="3477382"/>
            <a:ext cx="752570" cy="752570"/>
          </a:xfrm>
          <a:custGeom>
            <a:avLst/>
            <a:gdLst/>
            <a:ahLst/>
            <a:cxnLst/>
            <a:rect l="l" t="t" r="r" b="b"/>
            <a:pathLst>
              <a:path w="752570" h="752570">
                <a:moveTo>
                  <a:pt x="0" y="0"/>
                </a:moveTo>
                <a:lnTo>
                  <a:pt x="752570" y="0"/>
                </a:lnTo>
                <a:lnTo>
                  <a:pt x="752570" y="752570"/>
                </a:lnTo>
                <a:lnTo>
                  <a:pt x="0" y="752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061237" y="3439444"/>
            <a:ext cx="752570" cy="752570"/>
          </a:xfrm>
          <a:custGeom>
            <a:avLst/>
            <a:gdLst/>
            <a:ahLst/>
            <a:cxnLst/>
            <a:rect l="l" t="t" r="r" b="b"/>
            <a:pathLst>
              <a:path w="752570" h="752570">
                <a:moveTo>
                  <a:pt x="0" y="0"/>
                </a:moveTo>
                <a:lnTo>
                  <a:pt x="752570" y="0"/>
                </a:lnTo>
                <a:lnTo>
                  <a:pt x="752570" y="752570"/>
                </a:lnTo>
                <a:lnTo>
                  <a:pt x="0" y="752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2000" dirty="0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4191000" y="-1943100"/>
            <a:ext cx="3325220" cy="3325220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2228850" y="-1695450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62000" y="1918716"/>
            <a:ext cx="8229600" cy="664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IN" sz="5400" b="1" dirty="0"/>
              <a:t>ETL Process</a:t>
            </a:r>
            <a:endParaRPr lang="en-US" sz="5400" b="1" dirty="0">
              <a:solidFill>
                <a:srgbClr val="000000"/>
              </a:solidFill>
              <a:ea typeface="Aleo Bold"/>
              <a:cs typeface="Aleo Bold"/>
              <a:sym typeface="Ale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5197" y="4484336"/>
            <a:ext cx="180975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pc="48" dirty="0">
                <a:solidFill>
                  <a:srgbClr val="000000"/>
                </a:solidFill>
                <a:ea typeface="Glacial Indifference"/>
                <a:cs typeface="Glacial Indifference"/>
                <a:sym typeface="Glacial Indifference"/>
              </a:rPr>
              <a:t>Raw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93736" y="4484336"/>
            <a:ext cx="180975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pc="48" dirty="0">
                <a:solidFill>
                  <a:srgbClr val="000000"/>
                </a:solidFill>
                <a:ea typeface="Glacial Indifference"/>
                <a:cs typeface="Glacial Indifference"/>
                <a:sym typeface="Glacial Indifference"/>
              </a:rPr>
              <a:t>Cleaned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65208" y="4494734"/>
            <a:ext cx="180975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pc="48" dirty="0">
                <a:solidFill>
                  <a:srgbClr val="000000"/>
                </a:solidFill>
                <a:ea typeface="Glacial Indifference"/>
                <a:cs typeface="Glacial Indifference"/>
                <a:sym typeface="Glacial Indifference"/>
              </a:rPr>
              <a:t>SQL Star Schema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62600" y="4484336"/>
            <a:ext cx="1857375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pc="48" dirty="0">
                <a:ea typeface="Glacial Indifference"/>
                <a:cs typeface="Glacial Indifference"/>
                <a:sym typeface="Glacial Indifference"/>
              </a:rPr>
              <a:t>Python EDA</a:t>
            </a: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FC2381FB-476D-34B6-04DA-FB845ABDB958}"/>
              </a:ext>
            </a:extLst>
          </p:cNvPr>
          <p:cNvSpPr/>
          <p:nvPr/>
        </p:nvSpPr>
        <p:spPr>
          <a:xfrm>
            <a:off x="8020049" y="3477382"/>
            <a:ext cx="752570" cy="752570"/>
          </a:xfrm>
          <a:custGeom>
            <a:avLst/>
            <a:gdLst/>
            <a:ahLst/>
            <a:cxnLst/>
            <a:rect l="l" t="t" r="r" b="b"/>
            <a:pathLst>
              <a:path w="752570" h="752570">
                <a:moveTo>
                  <a:pt x="0" y="0"/>
                </a:moveTo>
                <a:lnTo>
                  <a:pt x="752570" y="0"/>
                </a:lnTo>
                <a:lnTo>
                  <a:pt x="752570" y="752570"/>
                </a:lnTo>
                <a:lnTo>
                  <a:pt x="0" y="752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B1B9F1-08FE-BD79-B8D7-459C1DFF664A}"/>
              </a:ext>
            </a:extLst>
          </p:cNvPr>
          <p:cNvSpPr txBox="1"/>
          <p:nvPr/>
        </p:nvSpPr>
        <p:spPr>
          <a:xfrm>
            <a:off x="7303353" y="4440734"/>
            <a:ext cx="2108847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IN" dirty="0"/>
              <a:t>Tableau Dashboards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C33EA-7C15-4B46-64BF-8A6F8B74F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2652B12-9527-8777-3E5B-D5AFF61AEAA1}"/>
              </a:ext>
            </a:extLst>
          </p:cNvPr>
          <p:cNvSpPr txBox="1"/>
          <p:nvPr/>
        </p:nvSpPr>
        <p:spPr>
          <a:xfrm>
            <a:off x="685800" y="1213866"/>
            <a:ext cx="592455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0"/>
              </a:lnSpc>
            </a:pPr>
            <a:r>
              <a:rPr lang="en-US" sz="4800" b="1" dirty="0">
                <a:solidFill>
                  <a:srgbClr val="0097B2"/>
                </a:solidFill>
                <a:latin typeface="Aleo Bold"/>
                <a:ea typeface="Aleo Bold"/>
                <a:cs typeface="Aleo Bold"/>
              </a:rPr>
              <a:t>Tools &amp; Technologies</a:t>
            </a:r>
            <a:endParaRPr lang="en-US" sz="4830" b="1" dirty="0">
              <a:solidFill>
                <a:srgbClr val="0097B2"/>
              </a:solidFill>
              <a:latin typeface="Aleo Bold"/>
              <a:ea typeface="Aleo Bold"/>
              <a:cs typeface="Aleo Bold"/>
              <a:sym typeface="Aleo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D029208-008C-4326-AE6D-FDC1B2CB36BD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2AA5111-DCA6-F820-AAC4-D7B784425D78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0EB7B9E-C20D-C65F-17AF-9D2B733B3D83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327B4-5F75-8624-E40E-A4F6F038324C}"/>
              </a:ext>
            </a:extLst>
          </p:cNvPr>
          <p:cNvSpPr txBox="1"/>
          <p:nvPr/>
        </p:nvSpPr>
        <p:spPr>
          <a:xfrm>
            <a:off x="687731" y="2219744"/>
            <a:ext cx="5637124" cy="34778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IN" sz="2400" dirty="0">
                <a:ea typeface="+mn-lt"/>
                <a:cs typeface="+mn-lt"/>
              </a:rPr>
              <a:t>Python → </a:t>
            </a:r>
            <a:r>
              <a:rPr lang="en-IN" sz="2400">
                <a:ea typeface="+mn-lt"/>
                <a:cs typeface="+mn-lt"/>
              </a:rPr>
              <a:t>Cleaning</a:t>
            </a:r>
            <a:r>
              <a:rPr lang="en-IN" sz="2400" dirty="0">
                <a:ea typeface="+mn-lt"/>
                <a:cs typeface="+mn-lt"/>
              </a:rPr>
              <a:t> &amp; EDA</a:t>
            </a:r>
            <a:endParaRPr lang="en-US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IN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IN" sz="2400" dirty="0">
                <a:ea typeface="+mn-lt"/>
                <a:cs typeface="+mn-lt"/>
              </a:rPr>
              <a:t>SQL / SQLite → </a:t>
            </a:r>
            <a:r>
              <a:rPr lang="en-IN" sz="2400">
                <a:ea typeface="+mn-lt"/>
                <a:cs typeface="+mn-lt"/>
              </a:rPr>
              <a:t>Data</a:t>
            </a:r>
            <a:r>
              <a:rPr lang="en-IN" sz="2400" dirty="0">
                <a:ea typeface="+mn-lt"/>
                <a:cs typeface="+mn-lt"/>
              </a:rPr>
              <a:t> </a:t>
            </a:r>
            <a:r>
              <a:rPr lang="en-IN" sz="2400">
                <a:ea typeface="+mn-lt"/>
                <a:cs typeface="+mn-lt"/>
              </a:rPr>
              <a:t>modelling</a:t>
            </a:r>
            <a:endParaRPr lang="en-IN" sz="2400" err="1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IN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IN" sz="2400" dirty="0">
                <a:ea typeface="+mn-lt"/>
                <a:cs typeface="+mn-lt"/>
              </a:rPr>
              <a:t>Tableau → </a:t>
            </a:r>
            <a:r>
              <a:rPr lang="en-IN" sz="2400">
                <a:ea typeface="+mn-lt"/>
                <a:cs typeface="+mn-lt"/>
              </a:rPr>
              <a:t>Visual</a:t>
            </a:r>
            <a:r>
              <a:rPr lang="en-IN" sz="2400" dirty="0">
                <a:ea typeface="+mn-lt"/>
                <a:cs typeface="+mn-lt"/>
              </a:rPr>
              <a:t> dashboards</a:t>
            </a:r>
            <a:endParaRPr lang="en-IN" sz="24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IN" sz="24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IN" sz="2400" dirty="0">
                <a:ea typeface="+mn-lt"/>
                <a:cs typeface="+mn-lt"/>
              </a:rPr>
              <a:t>Excel/CSV → </a:t>
            </a:r>
            <a:r>
              <a:rPr lang="en-IN" sz="2400">
                <a:ea typeface="+mn-lt"/>
                <a:cs typeface="+mn-lt"/>
              </a:rPr>
              <a:t>Raw</a:t>
            </a:r>
            <a:r>
              <a:rPr lang="en-IN" sz="2400" dirty="0">
                <a:ea typeface="+mn-lt"/>
                <a:cs typeface="+mn-lt"/>
              </a:rPr>
              <a:t> inputs</a:t>
            </a:r>
            <a:endParaRPr lang="en-IN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IN" sz="2400" dirty="0"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Glacial Indifferenc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799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5F3487-6F7B-285C-B2AB-FA7B2340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89FF1BB-6CD0-8113-33A2-917DE8C4448B}"/>
              </a:ext>
            </a:extLst>
          </p:cNvPr>
          <p:cNvSpPr txBox="1"/>
          <p:nvPr/>
        </p:nvSpPr>
        <p:spPr>
          <a:xfrm>
            <a:off x="685800" y="1213866"/>
            <a:ext cx="592455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0"/>
              </a:lnSpc>
            </a:pPr>
            <a:r>
              <a:rPr lang="en-US" sz="4800" b="1" dirty="0">
                <a:solidFill>
                  <a:srgbClr val="0097B2"/>
                </a:solidFill>
                <a:latin typeface="Aleo Bold"/>
                <a:ea typeface="Aleo Bold"/>
                <a:cs typeface="Aleo Bold"/>
                <a:sym typeface="Aleo Bold"/>
              </a:rPr>
              <a:t>Star Schema </a:t>
            </a:r>
            <a:endParaRPr lang="en-US" sz="4830" b="1" dirty="0">
              <a:solidFill>
                <a:srgbClr val="0097B2"/>
              </a:solidFill>
              <a:latin typeface="Aleo Bold"/>
              <a:ea typeface="Aleo Bold"/>
              <a:cs typeface="Aleo Bold"/>
              <a:sym typeface="Aleo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E8738ED-8F20-BAA3-1690-FADBC82D9F8B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9B21FA-8FE4-B5FB-83EC-0B576EA3A347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62E9D64-808B-90A2-5B9C-4121DD1C7D79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4294C32-7676-E490-47CF-2F888BCD34D8}"/>
              </a:ext>
            </a:extLst>
          </p:cNvPr>
          <p:cNvSpPr txBox="1">
            <a:spLocks/>
          </p:cNvSpPr>
          <p:nvPr/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FA2542B-1998-E777-5EBE-4676ABB72F2E}"/>
              </a:ext>
            </a:extLst>
          </p:cNvPr>
          <p:cNvSpPr txBox="1">
            <a:spLocks/>
          </p:cNvSpPr>
          <p:nvPr/>
        </p:nvSpPr>
        <p:spPr>
          <a:xfrm>
            <a:off x="485127" y="2215197"/>
            <a:ext cx="6711654" cy="419548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>
              <a:ea typeface="Calibri"/>
              <a:cs typeface="Calibri"/>
            </a:endParaRPr>
          </a:p>
          <a:p>
            <a:r>
              <a:rPr lang="en-IN" sz="2400" dirty="0"/>
              <a:t>Fact Table: Billing, Dates, Keys to all dimensions.</a:t>
            </a:r>
            <a:endParaRPr lang="en-IN" sz="2400" dirty="0">
              <a:ea typeface="Calibri"/>
              <a:cs typeface="Calibri"/>
            </a:endParaRPr>
          </a:p>
          <a:p>
            <a:endParaRPr lang="en-IN" sz="2400" dirty="0"/>
          </a:p>
          <a:p>
            <a:r>
              <a:rPr lang="en-IN" sz="2400" dirty="0"/>
              <a:t>Dimensions: Patient, Provider, Service, Payer, Time.</a:t>
            </a:r>
            <a:endParaRPr lang="en-IN" sz="2400" dirty="0">
              <a:ea typeface="Calibri"/>
              <a:cs typeface="Calibri"/>
            </a:endParaRPr>
          </a:p>
          <a:p>
            <a:endParaRPr lang="en-IN" sz="2400" dirty="0">
              <a:ea typeface="+mn-lt"/>
              <a:cs typeface="+mn-lt"/>
            </a:endParaRPr>
          </a:p>
          <a:p>
            <a:r>
              <a:rPr lang="en-IN" sz="2400" dirty="0">
                <a:ea typeface="+mn-lt"/>
                <a:cs typeface="+mn-lt"/>
              </a:rPr>
              <a:t>Benefits: Faster querying, Clear relationships, Standardized analytics structure.</a:t>
            </a:r>
            <a:endParaRPr lang="en-IN" dirty="0">
              <a:ea typeface="Calibri"/>
              <a:cs typeface="Calibri"/>
            </a:endParaRPr>
          </a:p>
          <a:p>
            <a:endParaRPr lang="en-IN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2762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E29E8-2C04-207D-E8B2-7B76471F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42F42A9-2064-86FD-6626-A3AF5D27F905}"/>
              </a:ext>
            </a:extLst>
          </p:cNvPr>
          <p:cNvSpPr txBox="1"/>
          <p:nvPr/>
        </p:nvSpPr>
        <p:spPr>
          <a:xfrm>
            <a:off x="685800" y="1213866"/>
            <a:ext cx="592455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0"/>
              </a:lnSpc>
            </a:pPr>
            <a:r>
              <a:rPr lang="en-US" sz="4800" b="1" dirty="0">
                <a:solidFill>
                  <a:srgbClr val="0097B2"/>
                </a:solidFill>
                <a:latin typeface="Aleo Bold"/>
                <a:ea typeface="Aleo Bold"/>
                <a:cs typeface="Aleo Bold"/>
                <a:sym typeface="Aleo Bold"/>
              </a:rPr>
              <a:t> Python EDA</a:t>
            </a:r>
            <a:endParaRPr lang="en-US" sz="4830" b="1" dirty="0">
              <a:solidFill>
                <a:srgbClr val="0097B2"/>
              </a:solidFill>
              <a:latin typeface="Aleo Bold"/>
              <a:ea typeface="Aleo Bold"/>
              <a:cs typeface="Aleo Bold"/>
              <a:sym typeface="Aleo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61813F1-65E4-2494-3F1D-75EDA844E7E0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E2C245E-E7B1-E0F7-B8D2-BDB8B192E04D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2DA10F2-FC97-26F7-32CA-57334F111361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363E3C-C4D6-1D42-1DE4-2E418F7A253B}"/>
              </a:ext>
            </a:extLst>
          </p:cNvPr>
          <p:cNvSpPr txBox="1">
            <a:spLocks/>
          </p:cNvSpPr>
          <p:nvPr/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7B5A1BB-759D-9B4D-C467-287AB1A1F773}"/>
              </a:ext>
            </a:extLst>
          </p:cNvPr>
          <p:cNvSpPr txBox="1">
            <a:spLocks/>
          </p:cNvSpPr>
          <p:nvPr/>
        </p:nvSpPr>
        <p:spPr>
          <a:xfrm>
            <a:off x="653409" y="2215197"/>
            <a:ext cx="6711654" cy="419548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ea typeface="+mn-lt"/>
                <a:cs typeface="+mn-lt"/>
              </a:rPr>
              <a:t>Cleaned dataset: fixed types, dates, missing values.</a:t>
            </a:r>
            <a:endParaRPr lang="en-IN" sz="2400" dirty="0">
              <a:ea typeface="Calibri"/>
              <a:cs typeface="Calibri"/>
            </a:endParaRPr>
          </a:p>
          <a:p>
            <a:endParaRPr lang="en-IN" sz="2400" dirty="0">
              <a:ea typeface="+mn-lt"/>
              <a:cs typeface="+mn-lt"/>
            </a:endParaRPr>
          </a:p>
          <a:p>
            <a:r>
              <a:rPr lang="en-IN" sz="2400" dirty="0">
                <a:ea typeface="+mn-lt"/>
                <a:cs typeface="+mn-lt"/>
              </a:rPr>
              <a:t>Generated Length of Stay (LOS) feature.</a:t>
            </a:r>
            <a:endParaRPr lang="en-IN" sz="2400">
              <a:ea typeface="Calibri"/>
              <a:cs typeface="Calibri"/>
            </a:endParaRPr>
          </a:p>
          <a:p>
            <a:endParaRPr lang="en-IN" sz="2400" dirty="0">
              <a:ea typeface="+mn-lt"/>
              <a:cs typeface="+mn-lt"/>
            </a:endParaRPr>
          </a:p>
          <a:p>
            <a:r>
              <a:rPr lang="en-IN" sz="2400" dirty="0" err="1">
                <a:ea typeface="+mn-lt"/>
                <a:cs typeface="+mn-lt"/>
              </a:rPr>
              <a:t>Analyzed</a:t>
            </a:r>
            <a:r>
              <a:rPr lang="en-IN" sz="2400" dirty="0">
                <a:ea typeface="+mn-lt"/>
                <a:cs typeface="+mn-lt"/>
              </a:rPr>
              <a:t> patient ages and condition distribution.</a:t>
            </a:r>
            <a:endParaRPr lang="en-IN" sz="2400">
              <a:ea typeface="Calibri"/>
              <a:cs typeface="Calibri"/>
            </a:endParaRPr>
          </a:p>
          <a:p>
            <a:endParaRPr lang="en-IN" sz="2400" dirty="0">
              <a:ea typeface="+mn-lt"/>
              <a:cs typeface="+mn-lt"/>
            </a:endParaRPr>
          </a:p>
          <a:p>
            <a:r>
              <a:rPr lang="en-IN" sz="2400" dirty="0">
                <a:ea typeface="+mn-lt"/>
                <a:cs typeface="+mn-lt"/>
              </a:rPr>
              <a:t>Identified billing patterns across groups.</a:t>
            </a:r>
            <a:endParaRPr lang="en-IN" sz="2400">
              <a:ea typeface="Calibri"/>
              <a:cs typeface="Calibri"/>
            </a:endParaRPr>
          </a:p>
          <a:p>
            <a:endParaRPr lang="en-IN" sz="2400" dirty="0">
              <a:ea typeface="+mn-lt"/>
              <a:cs typeface="+mn-lt"/>
            </a:endParaRPr>
          </a:p>
          <a:p>
            <a:r>
              <a:rPr lang="en-IN" sz="2400" dirty="0">
                <a:ea typeface="+mn-lt"/>
                <a:cs typeface="+mn-lt"/>
              </a:rPr>
              <a:t>Explored trends in admissions over time.</a:t>
            </a:r>
            <a:endParaRPr lang="en-IN" dirty="0">
              <a:ea typeface="Calibri"/>
              <a:cs typeface="Calibri"/>
            </a:endParaRPr>
          </a:p>
          <a:p>
            <a:endParaRPr lang="en-IN" sz="2400" dirty="0">
              <a:ea typeface="Calibri"/>
              <a:cs typeface="Calibri"/>
            </a:endParaRPr>
          </a:p>
          <a:p>
            <a:endParaRPr lang="en-IN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915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EEDD5-9706-48A1-8EFB-991665B6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832EC45-F66E-A266-8B80-E504EB8E5F94}"/>
              </a:ext>
            </a:extLst>
          </p:cNvPr>
          <p:cNvSpPr txBox="1"/>
          <p:nvPr/>
        </p:nvSpPr>
        <p:spPr>
          <a:xfrm>
            <a:off x="685800" y="1213866"/>
            <a:ext cx="592455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0"/>
              </a:lnSpc>
            </a:pPr>
            <a:r>
              <a:rPr lang="en-US" sz="4800" b="1" dirty="0">
                <a:solidFill>
                  <a:srgbClr val="0097B2"/>
                </a:solidFill>
                <a:latin typeface="Aleo Bold"/>
                <a:ea typeface="Aleo Bold"/>
                <a:cs typeface="Aleo Bold"/>
                <a:sym typeface="Aleo Bold"/>
              </a:rPr>
              <a:t> Feature Engineering</a:t>
            </a:r>
            <a:endParaRPr lang="en-US" sz="4830" b="1" dirty="0">
              <a:solidFill>
                <a:srgbClr val="0097B2"/>
              </a:solidFill>
              <a:latin typeface="Aleo Bold"/>
              <a:ea typeface="Aleo Bold"/>
              <a:cs typeface="Aleo Bold"/>
              <a:sym typeface="Aleo Bold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524FC20-D098-1417-56DC-C8016DEF27A8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DB1E5A-6A7F-4AB9-7330-CB5A6EC8F67B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0CBDF9C-DBD1-799A-C7EB-2A39FECB0F05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E228858-B842-5081-539E-3B11892777B8}"/>
              </a:ext>
            </a:extLst>
          </p:cNvPr>
          <p:cNvSpPr txBox="1">
            <a:spLocks/>
          </p:cNvSpPr>
          <p:nvPr/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CD395F7-5DCE-7926-69ED-3215CAE8ECB2}"/>
              </a:ext>
            </a:extLst>
          </p:cNvPr>
          <p:cNvSpPr txBox="1">
            <a:spLocks/>
          </p:cNvSpPr>
          <p:nvPr/>
        </p:nvSpPr>
        <p:spPr>
          <a:xfrm>
            <a:off x="653409" y="2215197"/>
            <a:ext cx="6711654" cy="419548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ea typeface="+mn-lt"/>
                <a:cs typeface="+mn-lt"/>
              </a:rPr>
              <a:t>Length of Stay = discharge − admission.</a:t>
            </a:r>
            <a:endParaRPr lang="en-US" dirty="0">
              <a:ea typeface="Calibri"/>
              <a:cs typeface="Calibri"/>
            </a:endParaRPr>
          </a:p>
          <a:p>
            <a:endParaRPr lang="en-IN" sz="2400" dirty="0">
              <a:ea typeface="+mn-lt"/>
              <a:cs typeface="+mn-lt"/>
            </a:endParaRPr>
          </a:p>
          <a:p>
            <a:r>
              <a:rPr lang="en-IN" sz="2400" dirty="0">
                <a:ea typeface="+mn-lt"/>
                <a:cs typeface="+mn-lt"/>
              </a:rPr>
              <a:t>Created age bins (5-year &amp; 10-year groups).</a:t>
            </a:r>
            <a:endParaRPr lang="en-IN" dirty="0">
              <a:ea typeface="+mn-lt"/>
              <a:cs typeface="+mn-lt"/>
            </a:endParaRPr>
          </a:p>
          <a:p>
            <a:endParaRPr lang="en-IN" sz="2400" dirty="0">
              <a:ea typeface="+mn-lt"/>
              <a:cs typeface="+mn-lt"/>
            </a:endParaRPr>
          </a:p>
          <a:p>
            <a:r>
              <a:rPr lang="en-IN" sz="2400" dirty="0">
                <a:ea typeface="+mn-lt"/>
                <a:cs typeface="+mn-lt"/>
              </a:rPr>
              <a:t>Extracted admission month/year.</a:t>
            </a:r>
            <a:endParaRPr lang="en-IN" dirty="0">
              <a:ea typeface="Calibri"/>
              <a:cs typeface="Calibri"/>
            </a:endParaRPr>
          </a:p>
          <a:p>
            <a:endParaRPr lang="en-IN" sz="2400" dirty="0">
              <a:ea typeface="+mn-lt"/>
              <a:cs typeface="+mn-lt"/>
            </a:endParaRPr>
          </a:p>
          <a:p>
            <a:r>
              <a:rPr lang="en-IN" sz="2400" dirty="0">
                <a:ea typeface="+mn-lt"/>
                <a:cs typeface="+mn-lt"/>
              </a:rPr>
              <a:t>Standardized categorical fields.</a:t>
            </a:r>
            <a:endParaRPr lang="en-IN" dirty="0">
              <a:ea typeface="Calibri"/>
              <a:cs typeface="Calibri"/>
            </a:endParaRPr>
          </a:p>
          <a:p>
            <a:endParaRPr lang="en-IN" sz="2400" dirty="0">
              <a:ea typeface="+mn-lt"/>
              <a:cs typeface="+mn-lt"/>
            </a:endParaRPr>
          </a:p>
          <a:p>
            <a:r>
              <a:rPr lang="en-IN" sz="2400" dirty="0">
                <a:ea typeface="+mn-lt"/>
                <a:cs typeface="+mn-lt"/>
              </a:rPr>
              <a:t>Improved dataset consistency.</a:t>
            </a:r>
            <a:endParaRPr lang="en-IN" dirty="0">
              <a:ea typeface="Calibri"/>
              <a:cs typeface="Calibri"/>
            </a:endParaRPr>
          </a:p>
          <a:p>
            <a:endParaRPr lang="en-IN" sz="2400" dirty="0">
              <a:ea typeface="Calibri"/>
              <a:cs typeface="Calibri"/>
            </a:endParaRPr>
          </a:p>
          <a:p>
            <a:endParaRPr lang="en-IN" sz="2400" dirty="0">
              <a:ea typeface="Calibri"/>
              <a:cs typeface="Calibri"/>
            </a:endParaRPr>
          </a:p>
          <a:p>
            <a:endParaRPr lang="en-IN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610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BEE4C-B76E-4A52-0658-F5A24AFB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3F63D82-EB8D-402D-2986-9BA110BBD3D4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7DBFBBD-4D0A-B2C3-D011-A7176FF11276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25427BC-1D4B-A1CA-7311-2DA035FE8166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C2E18CD-E180-C86C-465D-4B5F7D3DA6BE}"/>
              </a:ext>
            </a:extLst>
          </p:cNvPr>
          <p:cNvSpPr txBox="1">
            <a:spLocks/>
          </p:cNvSpPr>
          <p:nvPr/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B130FA-C3BC-6435-4DBF-10EA2E6F979E}"/>
              </a:ext>
            </a:extLst>
          </p:cNvPr>
          <p:cNvSpPr txBox="1">
            <a:spLocks/>
          </p:cNvSpPr>
          <p:nvPr/>
        </p:nvSpPr>
        <p:spPr>
          <a:xfrm>
            <a:off x="637110" y="605118"/>
            <a:ext cx="7055380" cy="140053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000" dirty="0">
                <a:solidFill>
                  <a:schemeClr val="accent5"/>
                </a:solidFill>
                <a:latin typeface="Aleo Bold"/>
              </a:rPr>
              <a:t>Dashboard 1: Patient Demographics &amp; Clinical Patterns</a:t>
            </a:r>
            <a:endParaRPr lang="en-US" sz="4000" dirty="0">
              <a:solidFill>
                <a:schemeClr val="accent5"/>
              </a:solidFill>
              <a:latin typeface="Aleo Bold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5540AA-E1C4-21CD-D300-1B12F619A07C}"/>
              </a:ext>
            </a:extLst>
          </p:cNvPr>
          <p:cNvSpPr txBox="1">
            <a:spLocks/>
          </p:cNvSpPr>
          <p:nvPr/>
        </p:nvSpPr>
        <p:spPr>
          <a:xfrm>
            <a:off x="487275" y="2725388"/>
            <a:ext cx="6711654" cy="342900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Age Distribution - Most</a:t>
            </a:r>
            <a:r>
              <a:rPr lang="en-US" sz="2000" dirty="0">
                <a:ea typeface="+mn-lt"/>
                <a:cs typeface="+mn-lt"/>
              </a:rPr>
              <a:t> patients fall between 20–80 years (~4K each), with very few at 10 and 85+.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/>
              <a:t>Age Group Billing Share - Billing</a:t>
            </a:r>
            <a:r>
              <a:rPr lang="en-US" sz="2000" dirty="0">
                <a:ea typeface="+mn-lt"/>
                <a:cs typeface="+mn-lt"/>
              </a:rPr>
              <a:t> is evenly spread, with ages 20–70 each contributing ~14–15%.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/>
              <a:t>Treatment Duration Over Time - All</a:t>
            </a:r>
            <a:r>
              <a:rPr lang="en-US" sz="2000" dirty="0">
                <a:ea typeface="+mn-lt"/>
                <a:cs typeface="+mn-lt"/>
              </a:rPr>
              <a:t> conditions show stable treatment durations from 2019–2024.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/>
              <a:t>Length of Stay by Admission Type - Emergency</a:t>
            </a:r>
            <a:r>
              <a:rPr lang="en-US" sz="2000" dirty="0">
                <a:ea typeface="+mn-lt"/>
                <a:cs typeface="+mn-lt"/>
              </a:rPr>
              <a:t> stays are longest (15.6 days), slightly above elective and urgent.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/>
              <a:t>Patients by Condition &amp; Gender - Conditions</a:t>
            </a:r>
            <a:r>
              <a:rPr lang="en-US" sz="2000" dirty="0">
                <a:ea typeface="+mn-lt"/>
                <a:cs typeface="+mn-lt"/>
              </a:rPr>
              <a:t> have balanced gender counts, roughly 4.6K male/female each.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/>
              <a:t>Billing Distribution Across Age Groups - Billing</a:t>
            </a:r>
            <a:r>
              <a:rPr lang="en-US" sz="2000" dirty="0">
                <a:ea typeface="+mn-lt"/>
                <a:cs typeface="+mn-lt"/>
              </a:rPr>
              <a:t> ranges are consistent across all age groups, peaking around $50K.</a:t>
            </a:r>
            <a:endParaRPr lang="en-US" sz="2000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9429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DA5A92-4FD3-73C8-548D-958530D7F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8894"/>
            <a:ext cx="9753600" cy="573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49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62626-E75B-B260-4A2D-DA375EE1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4FB5BBD6-9D7E-F047-3676-9E3D7F621B80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5D65A2F-CAB2-4FF0-E139-EEE84B176088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686C2B8-D0B1-B2A8-84FA-3E59E06CA612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AAE6B2C-8E0C-5864-9D47-6651414CAD63}"/>
              </a:ext>
            </a:extLst>
          </p:cNvPr>
          <p:cNvSpPr txBox="1">
            <a:spLocks/>
          </p:cNvSpPr>
          <p:nvPr/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3C63060-2864-F6AB-B048-B0A64A02CB27}"/>
              </a:ext>
            </a:extLst>
          </p:cNvPr>
          <p:cNvSpPr txBox="1">
            <a:spLocks/>
          </p:cNvSpPr>
          <p:nvPr/>
        </p:nvSpPr>
        <p:spPr>
          <a:xfrm>
            <a:off x="637110" y="605118"/>
            <a:ext cx="7055380" cy="140053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accent5"/>
                </a:solidFill>
                <a:latin typeface="Aleo Bold"/>
              </a:rPr>
              <a:t>Dashboard 2: Hospital Performance &amp; Financial Insights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4879821-926C-A64F-BA4E-AE80C7FB2FFD}"/>
              </a:ext>
            </a:extLst>
          </p:cNvPr>
          <p:cNvSpPr txBox="1">
            <a:spLocks/>
          </p:cNvSpPr>
          <p:nvPr/>
        </p:nvSpPr>
        <p:spPr>
          <a:xfrm>
            <a:off x="637527" y="2478975"/>
            <a:ext cx="7699055" cy="342900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Top 10 Costliest Hospitals - Smith</a:t>
            </a:r>
            <a:r>
              <a:rPr lang="en-US" sz="2000" dirty="0">
                <a:ea typeface="+mn-lt"/>
                <a:cs typeface="+mn-lt"/>
              </a:rPr>
              <a:t> Hospital leads all hospitals with $8.72M billing, followed by Johnson at $7.20M.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/>
              <a:t>Hospital Billing vs Patient Volume - Billing</a:t>
            </a:r>
            <a:r>
              <a:rPr lang="en-US" sz="2000" dirty="0">
                <a:ea typeface="+mn-lt"/>
                <a:cs typeface="+mn-lt"/>
              </a:rPr>
              <a:t> strongly rises with patient volume, top-volume hospitals generate $6M–$9M.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/>
              <a:t>Monthly Billing vs Discharges Trend - Monthly</a:t>
            </a:r>
            <a:r>
              <a:rPr lang="en-US" sz="2000" dirty="0">
                <a:ea typeface="+mn-lt"/>
                <a:cs typeface="+mn-lt"/>
              </a:rPr>
              <a:t> discharges consistently stay around 900–1,050, while billing remains stable.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/>
              <a:t>Admissions vs Avg Billing Over Time - Annual</a:t>
            </a:r>
            <a:r>
              <a:rPr lang="en-US" sz="2000" dirty="0">
                <a:ea typeface="+mn-lt"/>
                <a:cs typeface="+mn-lt"/>
              </a:rPr>
              <a:t> admissions decline from 7.4K (2019) to 3.9K (2024), but avg billing stays steady.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/>
              <a:t>Insurance Provider Revenue Contribution - Medicare</a:t>
            </a:r>
            <a:r>
              <a:rPr lang="en-US" sz="2000" dirty="0">
                <a:ea typeface="+mn-lt"/>
                <a:cs typeface="+mn-lt"/>
              </a:rPr>
              <a:t>, Aetna, Cigna, Blue Cross, and UnitedHealthcare all show similar avg billing ($25.3K–$25.6K) with volumes around 9K+ patients.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dirty="0"/>
              <a:t>Top 10 Doctors by Billing Contribution - Michael</a:t>
            </a:r>
            <a:r>
              <a:rPr lang="en-US" sz="2000" dirty="0">
                <a:ea typeface="+mn-lt"/>
                <a:cs typeface="+mn-lt"/>
              </a:rPr>
              <a:t> Smith is the top contributor with $785K across 24 patients; other top doctors bill $446K–$635K.</a:t>
            </a:r>
            <a:endParaRPr lang="en-US" sz="20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3045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0D72D-5BB0-459F-E7DA-2DDF29957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8894"/>
            <a:ext cx="9753600" cy="573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36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438DA-971E-7A12-06B5-92891700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CF1ECCA-912B-BA52-57FF-802966DD03FF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90F840D-FD22-75C4-CA39-1B0CEE83E8D4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383EC5A-1699-61F5-D7AD-70F22CA33965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D12EEC5-3E4F-63B7-6DD9-5B256F592525}"/>
              </a:ext>
            </a:extLst>
          </p:cNvPr>
          <p:cNvSpPr txBox="1">
            <a:spLocks/>
          </p:cNvSpPr>
          <p:nvPr/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1B73BE3-ECF5-AE8C-7B61-973CD328B127}"/>
              </a:ext>
            </a:extLst>
          </p:cNvPr>
          <p:cNvSpPr txBox="1">
            <a:spLocks/>
          </p:cNvSpPr>
          <p:nvPr/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348229-8345-5162-0114-8EAB2C524C2F}"/>
              </a:ext>
            </a:extLst>
          </p:cNvPr>
          <p:cNvSpPr txBox="1">
            <a:spLocks/>
          </p:cNvSpPr>
          <p:nvPr/>
        </p:nvSpPr>
        <p:spPr>
          <a:xfrm>
            <a:off x="637110" y="605118"/>
            <a:ext cx="7055380" cy="1400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dirty="0">
                <a:solidFill>
                  <a:schemeClr val="accent5"/>
                </a:solidFill>
                <a:latin typeface="Aleo Bold" panose="020B0604020202020204" charset="0"/>
              </a:rPr>
              <a:t>BI Stakeholders</a:t>
            </a:r>
            <a:endParaRPr lang="en-US" sz="4800" dirty="0">
              <a:solidFill>
                <a:schemeClr val="accent5"/>
              </a:solidFill>
              <a:latin typeface="Aleo Bold" panose="020B060402020202020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3E4F7B-D88C-473F-1108-8DD22C3EAC37}"/>
              </a:ext>
            </a:extLst>
          </p:cNvPr>
          <p:cNvSpPr txBox="1">
            <a:spLocks/>
          </p:cNvSpPr>
          <p:nvPr/>
        </p:nvSpPr>
        <p:spPr>
          <a:xfrm>
            <a:off x="949654" y="1600788"/>
            <a:ext cx="6711654" cy="342900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sz="2400" dirty="0"/>
              <a:t>Claims teams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/>
          </a:p>
          <a:p>
            <a:r>
              <a:rPr lang="en-US" sz="2400" dirty="0"/>
              <a:t>Fraud analytics teams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/>
          </a:p>
          <a:p>
            <a:r>
              <a:rPr lang="en-US" sz="2400" dirty="0"/>
              <a:t>Executives &amp; Finance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/>
          </a:p>
          <a:p>
            <a:r>
              <a:rPr lang="en-US" sz="2400" dirty="0"/>
              <a:t>Quality &amp; compliance teams</a:t>
            </a:r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1921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0C9E1-FFB8-FF7F-2E33-544FAB652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9AA818D-7BFE-0BD1-877C-FCD3169CF4EE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CA435A9-401C-696C-806B-B04EDD8261B9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0F96213-A341-649F-61BB-9704A66541FB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93E1B31-555D-5A9A-CC7E-618516BD57CE}"/>
              </a:ext>
            </a:extLst>
          </p:cNvPr>
          <p:cNvSpPr txBox="1">
            <a:spLocks/>
          </p:cNvSpPr>
          <p:nvPr/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0F44A2-C996-07CC-8A21-FEB62141924D}"/>
              </a:ext>
            </a:extLst>
          </p:cNvPr>
          <p:cNvSpPr txBox="1">
            <a:spLocks/>
          </p:cNvSpPr>
          <p:nvPr/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4B44429-19E2-5007-7FD0-E2F63D333D7D}"/>
              </a:ext>
            </a:extLst>
          </p:cNvPr>
          <p:cNvSpPr txBox="1">
            <a:spLocks/>
          </p:cNvSpPr>
          <p:nvPr/>
        </p:nvSpPr>
        <p:spPr>
          <a:xfrm>
            <a:off x="637110" y="605118"/>
            <a:ext cx="7055380" cy="140053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dirty="0">
                <a:solidFill>
                  <a:schemeClr val="accent5"/>
                </a:solidFill>
                <a:latin typeface="Aleo Bold"/>
              </a:rPr>
              <a:t>Key Insights</a:t>
            </a:r>
            <a:endParaRPr lang="en-US" sz="4800" dirty="0">
              <a:solidFill>
                <a:schemeClr val="accent5"/>
              </a:solidFill>
              <a:latin typeface="Aleo Bold" panose="020B060402020202020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8CA7A2A-97A5-ED8B-AEF0-91BA8558D357}"/>
              </a:ext>
            </a:extLst>
          </p:cNvPr>
          <p:cNvSpPr txBox="1">
            <a:spLocks/>
          </p:cNvSpPr>
          <p:nvPr/>
        </p:nvSpPr>
        <p:spPr>
          <a:xfrm>
            <a:off x="637131" y="1426497"/>
            <a:ext cx="6711654" cy="342900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ea typeface="Calibri"/>
              <a:cs typeface="Calibri"/>
            </a:endParaRPr>
          </a:p>
          <a:p>
            <a:r>
              <a:rPr lang="en-US" sz="2400" dirty="0">
                <a:ea typeface="+mn-lt"/>
                <a:cs typeface="+mn-lt"/>
              </a:rPr>
              <a:t>Patient base mostly ages 20–60.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Some hospitals and doctors drive significantly higher costs.</a:t>
            </a:r>
            <a:endParaRPr lang="en-US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Insurance revenue varies widely across providers.</a:t>
            </a:r>
            <a:endParaRPr lang="en-US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Length of Stay is generally short but varies per condition.</a:t>
            </a:r>
            <a:endParaRPr lang="en-US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Admissions follow seasonal/monthly trends.</a:t>
            </a:r>
            <a:endParaRPr lang="en-US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0888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BA3F9-C154-8B65-792B-56CA07967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EB247D42-5B8D-2CC1-1F27-2C6D50B157C6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A78D580-3CD0-10B6-F31C-63D4F42648F5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A48F595-EE75-C8EE-B932-4580F1C7CF46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9F695CF-870A-4395-E12C-561678D85238}"/>
              </a:ext>
            </a:extLst>
          </p:cNvPr>
          <p:cNvSpPr txBox="1">
            <a:spLocks/>
          </p:cNvSpPr>
          <p:nvPr/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A15AF22-6655-E6D2-2D15-D555BAF5DA0E}"/>
              </a:ext>
            </a:extLst>
          </p:cNvPr>
          <p:cNvSpPr txBox="1">
            <a:spLocks/>
          </p:cNvSpPr>
          <p:nvPr/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B25330-0E4E-5AC8-667E-F87D0C460F43}"/>
              </a:ext>
            </a:extLst>
          </p:cNvPr>
          <p:cNvSpPr txBox="1">
            <a:spLocks/>
          </p:cNvSpPr>
          <p:nvPr/>
        </p:nvSpPr>
        <p:spPr>
          <a:xfrm>
            <a:off x="637110" y="605118"/>
            <a:ext cx="7055380" cy="140053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dirty="0">
                <a:solidFill>
                  <a:schemeClr val="accent5"/>
                </a:solidFill>
                <a:latin typeface="Aleo Bold"/>
              </a:rPr>
              <a:t>Recommendations</a:t>
            </a:r>
            <a:endParaRPr lang="en-US" sz="4800" dirty="0">
              <a:solidFill>
                <a:schemeClr val="accent5"/>
              </a:solidFill>
              <a:latin typeface="Aleo Bold" panose="020B060402020202020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6CC1663-0CF4-2FFF-EB04-B9BC52D1C8B6}"/>
              </a:ext>
            </a:extLst>
          </p:cNvPr>
          <p:cNvSpPr txBox="1">
            <a:spLocks/>
          </p:cNvSpPr>
          <p:nvPr/>
        </p:nvSpPr>
        <p:spPr>
          <a:xfrm>
            <a:off x="637131" y="1823161"/>
            <a:ext cx="6711654" cy="342900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a typeface="+mn-lt"/>
                <a:cs typeface="+mn-lt"/>
              </a:rPr>
              <a:t>Implement automated dashboards for departments.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Regular data quality checks and validation rules.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Build centralized SQL-based BI pipelines.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Strengthen insurance contracting using revenue insights.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Track KPIs like LOS, billing, patient volume continuously.</a:t>
            </a:r>
            <a:endParaRPr lang="en-US" sz="24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5672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91648-3A59-16E4-E015-3AEA413AC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D8F705DC-699B-9636-4F81-FA59EDFCC40A}"/>
              </a:ext>
            </a:extLst>
          </p:cNvPr>
          <p:cNvGrpSpPr>
            <a:grpSpLocks noChangeAspect="1"/>
          </p:cNvGrpSpPr>
          <p:nvPr/>
        </p:nvGrpSpPr>
        <p:grpSpPr>
          <a:xfrm>
            <a:off x="7943850" y="-590550"/>
            <a:ext cx="3325220" cy="3325220"/>
            <a:chOff x="0" y="0"/>
            <a:chExt cx="6350000" cy="63500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9DB4515-D431-7046-0F8F-1AAB21F5B719}"/>
                </a:ext>
              </a:extLst>
            </p:cNvPr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163C8D-FC8E-A8BB-2F95-5E1E9C10977B}"/>
              </a:ext>
            </a:extLst>
          </p:cNvPr>
          <p:cNvSpPr/>
          <p:nvPr/>
        </p:nvSpPr>
        <p:spPr>
          <a:xfrm>
            <a:off x="6838950" y="676275"/>
            <a:ext cx="3086677" cy="3086677"/>
          </a:xfrm>
          <a:custGeom>
            <a:avLst/>
            <a:gdLst/>
            <a:ahLst/>
            <a:cxnLst/>
            <a:rect l="l" t="t" r="r" b="b"/>
            <a:pathLst>
              <a:path w="3086677" h="3086677">
                <a:moveTo>
                  <a:pt x="0" y="0"/>
                </a:moveTo>
                <a:lnTo>
                  <a:pt x="3086677" y="0"/>
                </a:lnTo>
                <a:lnTo>
                  <a:pt x="3086677" y="3086677"/>
                </a:lnTo>
                <a:lnTo>
                  <a:pt x="0" y="308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B72A0E8-A497-39AF-EC2F-6BA0AF21D72D}"/>
              </a:ext>
            </a:extLst>
          </p:cNvPr>
          <p:cNvSpPr txBox="1">
            <a:spLocks/>
          </p:cNvSpPr>
          <p:nvPr/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D01D035-5393-4BF8-8946-8067CEAED981}"/>
              </a:ext>
            </a:extLst>
          </p:cNvPr>
          <p:cNvSpPr txBox="1">
            <a:spLocks/>
          </p:cNvSpPr>
          <p:nvPr/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03002A-E591-0A28-34CD-7C17EA9B2CDB}"/>
              </a:ext>
            </a:extLst>
          </p:cNvPr>
          <p:cNvSpPr txBox="1">
            <a:spLocks/>
          </p:cNvSpPr>
          <p:nvPr/>
        </p:nvSpPr>
        <p:spPr>
          <a:xfrm>
            <a:off x="637110" y="605118"/>
            <a:ext cx="7055380" cy="140053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dirty="0">
                <a:solidFill>
                  <a:schemeClr val="accent5"/>
                </a:solidFill>
                <a:latin typeface="Aleo Bold"/>
              </a:rPr>
              <a:t>Future Improvements</a:t>
            </a:r>
            <a:endParaRPr lang="en-US" sz="4800" dirty="0">
              <a:solidFill>
                <a:schemeClr val="accent5"/>
              </a:solidFill>
              <a:latin typeface="Aleo Bold" panose="020B060402020202020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4BFBAB-DB69-16A1-C461-BD1BF2C3E173}"/>
              </a:ext>
            </a:extLst>
          </p:cNvPr>
          <p:cNvSpPr txBox="1">
            <a:spLocks/>
          </p:cNvSpPr>
          <p:nvPr/>
        </p:nvSpPr>
        <p:spPr>
          <a:xfrm>
            <a:off x="637131" y="2562398"/>
            <a:ext cx="6711654" cy="342900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a typeface="+mn-lt"/>
                <a:cs typeface="+mn-lt"/>
              </a:rPr>
              <a:t>Transition to cloud BI platforms for scalability.</a:t>
            </a:r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Add real-time data ingestion.</a:t>
            </a:r>
            <a:endParaRPr lang="en-US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Integrate predictive analytics for forecasting.</a:t>
            </a:r>
            <a:endParaRPr lang="en-US" dirty="0">
              <a:ea typeface="Calibri"/>
              <a:cs typeface="Calibri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Improve connectivity with hospital EMR/EHR systems.</a:t>
            </a:r>
            <a:endParaRPr lang="en-US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4907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3525" y="2473023"/>
            <a:ext cx="6648450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BI provides clarity into patients, costs, and operations.</a:t>
            </a:r>
          </a:p>
          <a:p>
            <a:pPr marL="457200" indent="-4572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Supports data-driven decision-making.</a:t>
            </a:r>
            <a:endParaRPr lang="en-US" sz="24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457200" indent="-45720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Enhances financial and clinical performance.</a:t>
            </a:r>
            <a:endParaRPr lang="en-US" sz="2400" dirty="0"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ea typeface="Calibri"/>
              <a:cs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1371600" y="-228600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991350" y="5791200"/>
            <a:ext cx="2505004" cy="2505004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Freeform 9"/>
          <p:cNvSpPr/>
          <p:nvPr/>
        </p:nvSpPr>
        <p:spPr>
          <a:xfrm>
            <a:off x="8382000" y="4305300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0" y="0"/>
                </a:moveTo>
                <a:lnTo>
                  <a:pt x="3086100" y="0"/>
                </a:lnTo>
                <a:lnTo>
                  <a:pt x="3086100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4F8406-08B7-AE1A-6D04-D0A38970BE12}"/>
              </a:ext>
            </a:extLst>
          </p:cNvPr>
          <p:cNvSpPr txBox="1"/>
          <p:nvPr/>
        </p:nvSpPr>
        <p:spPr>
          <a:xfrm>
            <a:off x="1647190" y="1219200"/>
            <a:ext cx="6421120" cy="73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29"/>
              </a:lnSpc>
            </a:pPr>
            <a:r>
              <a:rPr lang="en-US" sz="4800" b="1" dirty="0">
                <a:solidFill>
                  <a:srgbClr val="0097B2"/>
                </a:solidFill>
                <a:latin typeface="Aleo Bold"/>
                <a:ea typeface="Aleo Bold"/>
                <a:cs typeface="Aleo Bold"/>
                <a:sym typeface="Aleo Bold"/>
              </a:rPr>
              <a:t>Conclusion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879BBD-2FC4-5A2C-69CC-A6D658D137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57200" y="-28480"/>
            <a:ext cx="2983475" cy="19812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7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2813" y="6964594"/>
            <a:ext cx="10031106" cy="433441"/>
            <a:chOff x="0" y="0"/>
            <a:chExt cx="3715224" cy="160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5224" cy="160534"/>
            </a:xfrm>
            <a:custGeom>
              <a:avLst/>
              <a:gdLst/>
              <a:ahLst/>
              <a:cxnLst/>
              <a:rect l="l" t="t" r="r" b="b"/>
              <a:pathLst>
                <a:path w="3715224" h="160534">
                  <a:moveTo>
                    <a:pt x="0" y="0"/>
                  </a:moveTo>
                  <a:lnTo>
                    <a:pt x="3715224" y="0"/>
                  </a:lnTo>
                  <a:lnTo>
                    <a:pt x="3715224" y="160534"/>
                  </a:lnTo>
                  <a:lnTo>
                    <a:pt x="0" y="160534"/>
                  </a:lnTo>
                  <a:close/>
                </a:path>
              </a:pathLst>
            </a:custGeom>
            <a:solidFill>
              <a:srgbClr val="FFF8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715224" cy="1891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398423" y="-1345732"/>
            <a:ext cx="3500443" cy="3500443"/>
          </a:xfrm>
          <a:custGeom>
            <a:avLst/>
            <a:gdLst/>
            <a:ahLst/>
            <a:cxnLst/>
            <a:rect l="l" t="t" r="r" b="b"/>
            <a:pathLst>
              <a:path w="3500443" h="3500443">
                <a:moveTo>
                  <a:pt x="0" y="0"/>
                </a:moveTo>
                <a:lnTo>
                  <a:pt x="3500443" y="0"/>
                </a:lnTo>
                <a:lnTo>
                  <a:pt x="3500443" y="3500443"/>
                </a:lnTo>
                <a:lnTo>
                  <a:pt x="0" y="3500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r="-27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410450" y="-152400"/>
            <a:ext cx="3716815" cy="3716815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-14231" y="-32"/>
              <a:ext cx="6378462" cy="6350064"/>
            </a:xfrm>
            <a:custGeom>
              <a:avLst/>
              <a:gdLst/>
              <a:ahLst/>
              <a:cxnLst/>
              <a:rect l="l" t="t" r="r" b="b"/>
              <a:pathLst>
                <a:path w="6378462" h="6350064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FF8DA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5518681" y="897452"/>
            <a:ext cx="3503399" cy="2666962"/>
          </a:xfrm>
          <a:custGeom>
            <a:avLst/>
            <a:gdLst/>
            <a:ahLst/>
            <a:cxnLst/>
            <a:rect l="l" t="t" r="r" b="b"/>
            <a:pathLst>
              <a:path w="3503399" h="2666962">
                <a:moveTo>
                  <a:pt x="0" y="0"/>
                </a:moveTo>
                <a:lnTo>
                  <a:pt x="3503399" y="0"/>
                </a:lnTo>
                <a:lnTo>
                  <a:pt x="3503399" y="2666963"/>
                </a:lnTo>
                <a:lnTo>
                  <a:pt x="0" y="26669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57225" y="4808283"/>
            <a:ext cx="8591550" cy="1175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80"/>
              </a:lnSpc>
            </a:pPr>
            <a:r>
              <a:rPr lang="en-US" sz="8780" b="1">
                <a:solidFill>
                  <a:srgbClr val="FFF8DA"/>
                </a:solidFill>
                <a:latin typeface="Aleo Bold"/>
                <a:ea typeface="Aleo Bold"/>
                <a:cs typeface="Aleo Bold"/>
                <a:sym typeface="Ale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847</Words>
  <Application>Microsoft Macintosh PowerPoint</Application>
  <PresentationFormat>Custom</PresentationFormat>
  <Paragraphs>180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Aleo Bold</vt:lpstr>
      <vt:lpstr>Arial</vt:lpstr>
      <vt:lpstr>Glacial Indifference Bold</vt:lpstr>
      <vt:lpstr>Calibri</vt:lpstr>
      <vt:lpstr>Glacial Indifference</vt:lpstr>
      <vt:lpstr>Arial,Sans-Serif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Presentation in Teal Yellow Modern Style</dc:title>
  <dc:creator>SWAPNA</dc:creator>
  <cp:lastModifiedBy>Podakkal, Richa Cristina</cp:lastModifiedBy>
  <cp:revision>707</cp:revision>
  <dcterms:created xsi:type="dcterms:W3CDTF">2006-08-16T00:00:00Z</dcterms:created>
  <dcterms:modified xsi:type="dcterms:W3CDTF">2025-12-02T21:50:36Z</dcterms:modified>
  <dc:identifier>DAG6YwJAMUo</dc:identifier>
</cp:coreProperties>
</file>